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61" r:id="rId6"/>
    <p:sldId id="263" r:id="rId7"/>
    <p:sldId id="269" r:id="rId8"/>
    <p:sldId id="260" r:id="rId9"/>
    <p:sldId id="265" r:id="rId10"/>
    <p:sldId id="264" r:id="rId11"/>
    <p:sldId id="266" r:id="rId12"/>
    <p:sldId id="267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33"/>
    <p:restoredTop sz="94753"/>
  </p:normalViewPr>
  <p:slideViewPr>
    <p:cSldViewPr snapToGrid="0">
      <p:cViewPr>
        <p:scale>
          <a:sx n="123" d="100"/>
          <a:sy n="123" d="100"/>
        </p:scale>
        <p:origin x="25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61896E-EFBD-E624-58F6-E6A50B138C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8BB5061-6829-6E45-BC79-1489E833AA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E9B5B7B-E8B9-CC85-26D2-FBA9FAC16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0D91A-FC30-B540-B2FD-5AAEF27F1476}" type="datetimeFigureOut">
              <a:rPr kumimoji="1" lang="zh-TW" altLang="en-US" smtClean="0"/>
              <a:t>2026/6/5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5E4BDA1-D1FD-F527-6517-5103C310F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C0A94B0-A639-71C1-2D2C-041DDF06B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6075-A22C-8840-A5E7-EFCC40BEAF2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5152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A14D8B-D814-85C6-98C9-F7EA87D0D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FA321A-CD48-D7B7-E851-EA568D7F1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8297443-0DC7-537D-6C2E-890DA275F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0D91A-FC30-B540-B2FD-5AAEF27F1476}" type="datetimeFigureOut">
              <a:rPr kumimoji="1" lang="zh-TW" altLang="en-US" smtClean="0"/>
              <a:t>2026/6/5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CD71A8F-0B54-2055-2302-6D7FA48E7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31DF070-CF2F-39F9-9DF6-54D95E831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6075-A22C-8840-A5E7-EFCC40BEAF2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65652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DBBF49-E76D-95A9-29E9-00BC7C00D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99DEA95-2491-8017-E730-52C6A9BCD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2C32EBF-013E-DFA2-AF68-B6D51863F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0D91A-FC30-B540-B2FD-5AAEF27F1476}" type="datetimeFigureOut">
              <a:rPr kumimoji="1" lang="zh-TW" altLang="en-US" smtClean="0"/>
              <a:t>2026/6/5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3CF9438-6B05-D17D-58F8-FD45B654E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6513AB-4E7E-AD99-1D45-CFEA02CF2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6075-A22C-8840-A5E7-EFCC40BEAF2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70697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6D3ABD-2507-617E-6044-7841C9F50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6C8E98-4D7A-A142-DAE0-CDB33644B9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61B1EE0-FFD0-C6C0-E115-05B5A5ACC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0698D5F-F7DE-E334-4930-0087968C3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0D91A-FC30-B540-B2FD-5AAEF27F1476}" type="datetimeFigureOut">
              <a:rPr kumimoji="1" lang="zh-TW" altLang="en-US" smtClean="0"/>
              <a:t>2026/6/5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C0B5D0E-630E-9097-B716-08ADF1B34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74D2016-C379-5002-6EAA-62CBD18CE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6075-A22C-8840-A5E7-EFCC40BEAF2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13147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3AF9DB-B562-0974-853D-21971B38B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F3456AA-7552-3F39-8635-3E25E19D7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E59F552-0CEC-EE14-ACD7-BCF1D8E64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CC80B42-2321-EC4A-AD23-4B85FCDF35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CB42C6E-507A-6049-0279-6E18BDB66F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0808112-F867-5D9A-C1AF-75A436687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0D91A-FC30-B540-B2FD-5AAEF27F1476}" type="datetimeFigureOut">
              <a:rPr kumimoji="1" lang="zh-TW" altLang="en-US" smtClean="0"/>
              <a:t>2026/6/5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D03075E-3F97-3F73-9050-0D1377ECF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15FE6C2-4E62-89ED-4517-6361184E4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6075-A22C-8840-A5E7-EFCC40BEAF2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28397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F8C83C-ACEE-4724-E14A-851AA1DF3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254CCA3-CA63-50F8-5948-63DBA0ED6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0D91A-FC30-B540-B2FD-5AAEF27F1476}" type="datetimeFigureOut">
              <a:rPr kumimoji="1" lang="zh-TW" altLang="en-US" smtClean="0"/>
              <a:t>2026/6/5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4B2676D-EBD0-7C47-DC9C-9D15883F5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A587340-08A6-E0D0-E6B0-E0D399D1D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6075-A22C-8840-A5E7-EFCC40BEAF2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88380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E8C0762-425C-51FA-8C9A-90AB3E1C4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0D91A-FC30-B540-B2FD-5AAEF27F1476}" type="datetimeFigureOut">
              <a:rPr kumimoji="1" lang="zh-TW" altLang="en-US" smtClean="0"/>
              <a:t>2026/6/5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448BB01-B3D9-4B4E-1244-0110CB860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C259302-8B4B-CE9C-F1E7-709B2202F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6075-A22C-8840-A5E7-EFCC40BEAF2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42631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4BBB68-5020-E997-96A0-28810D649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B4DC6C9-0008-83BB-789D-38F5E2A2F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35D055C-76DF-7174-869D-5A4AD40514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C15039E-363E-62E9-D2EC-7DBE506F5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0D91A-FC30-B540-B2FD-5AAEF27F1476}" type="datetimeFigureOut">
              <a:rPr kumimoji="1" lang="zh-TW" altLang="en-US" smtClean="0"/>
              <a:t>2026/6/5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0E15389-CBB9-AE5C-579F-F43E8F051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3222486-C75A-2B9D-3D07-1A6C653FF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6075-A22C-8840-A5E7-EFCC40BEAF2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59971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910CB0-F7F3-4346-64A4-4FC743109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5D66438-25ED-F7BD-3A94-4CE69E76F8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203EBA5-1F54-3792-2DA5-06C8D264EA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B7F06C3-9142-E6BF-0114-0F2F05B74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0D91A-FC30-B540-B2FD-5AAEF27F1476}" type="datetimeFigureOut">
              <a:rPr kumimoji="1" lang="zh-TW" altLang="en-US" smtClean="0"/>
              <a:t>2026/6/5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AC89BCF-DCB5-3F2D-4C26-94F4F20CB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22FE795-9008-5C90-1326-5291F2803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6075-A22C-8840-A5E7-EFCC40BEAF2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75982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3EA68C-20B7-E5B8-5871-4E8193453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FFE46A1-3AE3-77B9-7128-FA3578B17D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9D14ADA-A261-068A-51CE-A9FB2DA6E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0D91A-FC30-B540-B2FD-5AAEF27F1476}" type="datetimeFigureOut">
              <a:rPr kumimoji="1" lang="zh-TW" altLang="en-US" smtClean="0"/>
              <a:t>2026/6/5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82782E9-C479-73B4-8BBF-B70AD5410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6D2F716-0912-838D-332C-F6DDA3C49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6075-A22C-8840-A5E7-EFCC40BEAF2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98097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E766502-11A9-E5FA-3B7D-0A24270D5C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C1061ED-08F1-2815-ECCC-2C40A95D47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9E6B9D4-109C-F157-1574-2007E110D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0D91A-FC30-B540-B2FD-5AAEF27F1476}" type="datetimeFigureOut">
              <a:rPr kumimoji="1" lang="zh-TW" altLang="en-US" smtClean="0"/>
              <a:t>2026/6/5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2F50BB7-5B70-8464-67C2-752994E65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9BCF979-1FCF-EAB9-3936-BE318096F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6075-A22C-8840-A5E7-EFCC40BEAF2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49960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EF520E3-CFF7-3A6A-448B-FA50089E1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124B23E-C67A-8541-FD86-150125EB7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5045CA7-7040-C947-FFE1-5F70B13B49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80D91A-FC30-B540-B2FD-5AAEF27F1476}" type="datetimeFigureOut">
              <a:rPr kumimoji="1" lang="zh-TW" altLang="en-US" smtClean="0"/>
              <a:t>2026/6/5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0A7DF0A-4B41-FB16-0B24-E64BBF0D69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F49E131-6BD1-3064-3B38-E3B186B918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9B6075-A22C-8840-A5E7-EFCC40BEAF2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3562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4EB710-6CF8-6632-947D-8E0F1ED950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zh-TW" sz="4400" dirty="0">
                <a:latin typeface="Kaiti TC" panose="02010600040101010101" pitchFamily="2" charset="-120"/>
                <a:ea typeface="Kaiti TC" panose="02010600040101010101" pitchFamily="2" charset="-120"/>
              </a:rPr>
              <a:t>Campus Event Management System</a:t>
            </a:r>
            <a:br>
              <a:rPr lang="zh-TW" altLang="zh-TW" dirty="0">
                <a:latin typeface="Kaiti TC" panose="02010600040101010101" pitchFamily="2" charset="-120"/>
                <a:ea typeface="Kaiti TC" panose="02010600040101010101" pitchFamily="2" charset="-120"/>
              </a:rPr>
            </a:br>
            <a:r>
              <a:rPr lang="zh-TW" altLang="zh-TW" dirty="0">
                <a:latin typeface="Kaiti TC" panose="02010600040101010101" pitchFamily="2" charset="-120"/>
                <a:ea typeface="Kaiti TC" panose="02010600040101010101" pitchFamily="2" charset="-120"/>
              </a:rPr>
              <a:t>校園活動管理系統</a:t>
            </a:r>
            <a:endParaRPr kumimoji="1" lang="zh-TW" altLang="en-US" dirty="0">
              <a:latin typeface="Kaiti TC" panose="02010600040101010101" pitchFamily="2" charset="-120"/>
              <a:ea typeface="Kaiti TC" panose="02010600040101010101" pitchFamily="2" charset="-12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B62A3D7-3CB5-C616-D4D6-1A870459DB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07432"/>
            <a:ext cx="9144000" cy="1655762"/>
          </a:xfrm>
        </p:spPr>
        <p:txBody>
          <a:bodyPr/>
          <a:lstStyle/>
          <a:p>
            <a:r>
              <a:rPr kumimoji="1" lang="en-US" altLang="zh-TW" dirty="0">
                <a:latin typeface="Kaiti TC" panose="02010600040101010101" pitchFamily="2" charset="-120"/>
                <a:ea typeface="Kaiti TC" panose="02010600040101010101" pitchFamily="2" charset="-120"/>
              </a:rPr>
              <a:t>A11423007</a:t>
            </a:r>
            <a:r>
              <a:rPr kumimoji="1"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 </a:t>
            </a:r>
            <a:r>
              <a:rPr kumimoji="1" lang="zh-TW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秦楷翔</a:t>
            </a:r>
            <a:endParaRPr kumimoji="1" lang="en-US" altLang="zh-TW" dirty="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r>
              <a:rPr kumimoji="1" lang="en-US" altLang="zh-TW" dirty="0">
                <a:latin typeface="Kaiti TC" panose="02010600040101010101" pitchFamily="2" charset="-120"/>
                <a:ea typeface="Kaiti TC" panose="02010600040101010101" pitchFamily="2" charset="-120"/>
              </a:rPr>
              <a:t>A11423011</a:t>
            </a:r>
            <a:r>
              <a:rPr kumimoji="1"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 蘇怡甄</a:t>
            </a:r>
            <a:endParaRPr kumimoji="1" lang="en-US" altLang="zh-TW" dirty="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r>
              <a:rPr kumimoji="1" lang="en-US" altLang="zh-TW" dirty="0">
                <a:latin typeface="Kaiti TC" panose="02010600040101010101" pitchFamily="2" charset="-120"/>
                <a:ea typeface="Kaiti TC" panose="02010600040101010101" pitchFamily="2" charset="-120"/>
              </a:rPr>
              <a:t>A114230</a:t>
            </a:r>
            <a:r>
              <a:rPr kumimoji="1" lang="en-US" altLang="zh-CN" dirty="0">
                <a:latin typeface="Kaiti TC" panose="02010600040101010101" pitchFamily="2" charset="-120"/>
                <a:ea typeface="Kaiti TC" panose="02010600040101010101" pitchFamily="2" charset="-120"/>
              </a:rPr>
              <a:t>46</a:t>
            </a:r>
            <a:r>
              <a:rPr kumimoji="1"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 溫</a:t>
            </a:r>
            <a:r>
              <a:rPr kumimoji="1" lang="zh-TW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婉妤</a:t>
            </a:r>
          </a:p>
        </p:txBody>
      </p:sp>
    </p:spTree>
    <p:extLst>
      <p:ext uri="{BB962C8B-B14F-4D97-AF65-F5344CB8AC3E}">
        <p14:creationId xmlns:p14="http://schemas.microsoft.com/office/powerpoint/2010/main" val="1778557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2920F-712D-493E-40E4-9AA47989A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3735F8-BBEC-78BF-16EB-04D157759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系統需求</a:t>
            </a:r>
            <a:endParaRPr lang="zh-TW" altLang="zh-TW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92AF7BF7-4BDE-4CD3-D9B8-D9EB45CD0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64378"/>
            <a:ext cx="6400800" cy="39243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53CA8B50-4713-5367-E766-B0D032BC84A8}"/>
              </a:ext>
            </a:extLst>
          </p:cNvPr>
          <p:cNvSpPr txBox="1"/>
          <p:nvPr/>
        </p:nvSpPr>
        <p:spPr>
          <a:xfrm>
            <a:off x="5967047" y="545739"/>
            <a:ext cx="519332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b="1" dirty="0"/>
              <a:t>課程</a:t>
            </a:r>
            <a:r>
              <a:rPr lang="zh-TW" altLang="zh-TW" dirty="0"/>
              <a:t>：物件導向程式設計</a:t>
            </a:r>
            <a:br>
              <a:rPr lang="zh-TW" altLang="zh-TW" dirty="0"/>
            </a:br>
            <a:r>
              <a:rPr lang="zh-TW" altLang="zh-TW" b="1" dirty="0"/>
              <a:t>專案名稱</a:t>
            </a:r>
            <a:r>
              <a:rPr lang="zh-TW" altLang="zh-TW" dirty="0"/>
              <a:t>：Campus Event Management System</a:t>
            </a:r>
            <a:endParaRPr lang="en-US" altLang="zh-TW" dirty="0"/>
          </a:p>
          <a:p>
            <a:r>
              <a:rPr lang="zh-TW" altLang="en-US" dirty="0"/>
              <a:t>開發語言：Java SE 11+</a:t>
            </a:r>
          </a:p>
          <a:p>
            <a:r>
              <a:rPr lang="zh-TW" altLang="en-US" dirty="0"/>
              <a:t>介面方式：GUI（JavaFX）</a:t>
            </a:r>
          </a:p>
          <a:p>
            <a:r>
              <a:rPr lang="zh-TW" altLang="en-US" dirty="0"/>
              <a:t>資料儲存：</a:t>
            </a:r>
            <a:r>
              <a:rPr lang="en" altLang="zh-TW" dirty="0"/>
              <a:t>File I/O</a:t>
            </a:r>
          </a:p>
          <a:p>
            <a:r>
              <a:rPr lang="zh-TW" altLang="en-US" dirty="0"/>
              <a:t>儲存格式：</a:t>
            </a:r>
            <a:r>
              <a:rPr lang="en" altLang="zh-TW" dirty="0"/>
              <a:t>CSV</a:t>
            </a:r>
            <a:endParaRPr lang="zh-TW" altLang="en-US" dirty="0"/>
          </a:p>
          <a:p>
            <a:r>
              <a:rPr lang="zh-TW" altLang="en-US" dirty="0"/>
              <a:t>匯出格式：</a:t>
            </a:r>
            <a:r>
              <a:rPr lang="en" altLang="zh-TW" dirty="0"/>
              <a:t>CSV</a:t>
            </a:r>
          </a:p>
        </p:txBody>
      </p:sp>
    </p:spTree>
    <p:extLst>
      <p:ext uri="{BB962C8B-B14F-4D97-AF65-F5344CB8AC3E}">
        <p14:creationId xmlns:p14="http://schemas.microsoft.com/office/powerpoint/2010/main" val="2094701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lowchart: Document 10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45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1977C13-CEA5-CF92-C905-505809CBD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zh-TW" altLang="en-US" sz="3200" dirty="0">
                <a:solidFill>
                  <a:srgbClr val="FFFFFF"/>
                </a:solidFill>
              </a:rPr>
              <a:t>需求</a:t>
            </a:r>
            <a:r>
              <a:rPr lang="zh-TW" alt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參考</a:t>
            </a:r>
            <a:endParaRPr kumimoji="1" lang="en-US" altLang="zh-TW" sz="32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34674C6B-10CB-F058-2FE3-B098A2BF5B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7933" y="1133383"/>
            <a:ext cx="7347537" cy="4592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652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A3671-31B5-6B23-3714-B950394CE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D82778-1CA8-6852-0511-CB63CB995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系統架構</a:t>
            </a:r>
            <a:endParaRPr lang="zh-TW" altLang="zh-TW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020CF5FA-3B46-85FF-D4C6-FF3C9845BD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6522" y="1490844"/>
            <a:ext cx="9918956" cy="5273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169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87A7D-CE9D-5005-7AD6-AA9C0EB18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37634D-6DDA-3C67-30F7-53A2B557D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使用流程圖</a:t>
            </a:r>
            <a:endParaRPr lang="zh-TW" altLang="zh-TW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CA8627D4-30B7-3876-397A-6B46DE16B8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11760" y="84665"/>
            <a:ext cx="6777972" cy="673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121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8C5C84-8310-1F51-1AE8-C93A6411C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C21A7DFC-3BDA-C682-8CD8-1B7768627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UML Class Diagram</a:t>
            </a:r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3FB14726-554C-21E7-A709-57FDDC8F8E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60020" y="0"/>
            <a:ext cx="70938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580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B7BD0-D5A4-4556-8479-F8837144F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264315-6D98-54D3-3BB0-D7D91FB09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UML Class Diagram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4E28311-BF1D-4651-6A69-53649E438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zh-TW" sz="1600" dirty="0"/>
              <a:t>User：所有使用者的父類別。</a:t>
            </a:r>
            <a:br>
              <a:rPr lang="zh-TW" altLang="zh-TW" sz="1600" dirty="0"/>
            </a:br>
            <a:r>
              <a:rPr lang="zh-TW" altLang="zh-TW" sz="1600" dirty="0"/>
              <a:t>屬性有 userId、name、password、role。方法 checkPassword() 用於登入驗證，updateProfile() 用於更新個人資料。</a:t>
            </a:r>
          </a:p>
          <a:p>
            <a:r>
              <a:rPr lang="zh-TW" altLang="zh-TW" sz="1600" dirty="0"/>
              <a:t>Student：學生角色，繼承 User。</a:t>
            </a:r>
            <a:br>
              <a:rPr lang="zh-TW" altLang="zh-TW" sz="1600" dirty="0"/>
            </a:br>
            <a:r>
              <a:rPr lang="zh-TW" altLang="zh-TW" sz="1600" dirty="0"/>
              <a:t>屬性有 studentNo、department。方法包含報名活動、取消報名、查看個人報名紀錄。</a:t>
            </a:r>
          </a:p>
          <a:p>
            <a:r>
              <a:rPr lang="zh-TW" altLang="zh-TW" sz="1600" dirty="0"/>
              <a:t>Organizer：主辦者角色，繼承 User。</a:t>
            </a:r>
            <a:br>
              <a:rPr lang="zh-TW" altLang="zh-TW" sz="1600" dirty="0"/>
            </a:br>
            <a:r>
              <a:rPr lang="zh-TW" altLang="zh-TW" sz="1600" dirty="0"/>
              <a:t>屬性有 organizationName。方法包含建立、編輯、刪除活動，以及查看某活動的報名名單。</a:t>
            </a:r>
          </a:p>
          <a:p>
            <a:r>
              <a:rPr lang="zh-TW" altLang="zh-TW" sz="1600" dirty="0"/>
              <a:t>Event：活動資料。</a:t>
            </a:r>
            <a:br>
              <a:rPr lang="zh-TW" altLang="zh-TW" sz="1600" dirty="0"/>
            </a:br>
            <a:r>
              <a:rPr lang="zh-TW" altLang="zh-TW" sz="1600" dirty="0"/>
              <a:t>屬性有 eventId、title、description、location、eventType、startTime、endTime、capacity。活動狀態不直接儲存，而是由 getStatus(registeredCount) 根據時間與報名人數判斷，例如 未開始 / 進行中 / 已結束 / 已額滿。canRegister(registeredCount) 用來控制是否允許報名。</a:t>
            </a:r>
          </a:p>
          <a:p>
            <a:r>
              <a:rPr lang="zh-TW" altLang="zh-TW" sz="1600" dirty="0"/>
              <a:t>Registration：報名紀錄，是 Student 和 Event 之間的中介。</a:t>
            </a:r>
            <a:br>
              <a:rPr lang="zh-TW" altLang="zh-TW" sz="1600" dirty="0"/>
            </a:br>
            <a:r>
              <a:rPr lang="zh-TW" altLang="zh-TW" sz="1600" dirty="0"/>
              <a:t>屬性有 registrationId、registeredAt、status。方法 cancel() 取消報名，isActive() 判斷這筆報名是否仍有效。</a:t>
            </a:r>
          </a:p>
          <a:p>
            <a:r>
              <a:rPr lang="zh-TW" altLang="zh-TW" sz="1600" b="1" dirty="0"/>
              <a:t>類別關係</a:t>
            </a:r>
            <a:br>
              <a:rPr lang="zh-TW" altLang="zh-TW" sz="1600" dirty="0"/>
            </a:br>
            <a:r>
              <a:rPr lang="zh-TW" altLang="zh-TW" sz="1600" dirty="0"/>
              <a:t>Student ─▷ User：學生繼承使用者。</a:t>
            </a:r>
            <a:br>
              <a:rPr lang="zh-TW" altLang="zh-TW" sz="1600" dirty="0"/>
            </a:br>
            <a:r>
              <a:rPr lang="zh-TW" altLang="zh-TW" sz="1600" dirty="0"/>
              <a:t>Organizer ─▷ User：主辦者繼承使用者。</a:t>
            </a:r>
            <a:br>
              <a:rPr lang="zh-TW" altLang="zh-TW" sz="1600" dirty="0"/>
            </a:br>
            <a:r>
              <a:rPr lang="zh-TW" altLang="zh-TW" sz="1600" dirty="0"/>
              <a:t>Organizer 1 → 0..* Event：一位主辦者可以建立多個活動。</a:t>
            </a:r>
            <a:br>
              <a:rPr lang="zh-TW" altLang="zh-TW" sz="1600" dirty="0"/>
            </a:br>
            <a:r>
              <a:rPr lang="zh-TW" altLang="zh-TW" sz="1600" dirty="0"/>
              <a:t>Student 1 → 0..* Registration：一位學生可以有多筆報名紀錄。</a:t>
            </a:r>
            <a:br>
              <a:rPr lang="zh-TW" altLang="zh-TW" sz="1600" dirty="0"/>
            </a:br>
            <a:r>
              <a:rPr lang="zh-TW" altLang="zh-TW" sz="1600" dirty="0"/>
              <a:t>Event 1 → 0..* Registration：一個活動可以有多筆報名紀錄。</a:t>
            </a:r>
          </a:p>
        </p:txBody>
      </p:sp>
    </p:spTree>
    <p:extLst>
      <p:ext uri="{BB962C8B-B14F-4D97-AF65-F5344CB8AC3E}">
        <p14:creationId xmlns:p14="http://schemas.microsoft.com/office/powerpoint/2010/main" val="3860416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418A9-25C1-D5AE-3876-8234ED614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125A8C-A0C7-B198-3E56-6A3606894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類別設計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9446A5CD-61FF-922E-293B-79A57FA855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4690" y="1453187"/>
            <a:ext cx="6442619" cy="540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248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2AE10-678A-4174-CC5E-8301B9EEE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EDF7A3-ECA4-1CC6-0F47-0CA66E3AB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模組分工</a:t>
            </a:r>
            <a:endParaRPr lang="zh-TW" altLang="zh-TW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9F97DB6-81D2-DF53-DFFF-CAA17E96B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569" y="1799004"/>
            <a:ext cx="382758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1600" dirty="0"/>
              <a:t>系統：</a:t>
            </a:r>
          </a:p>
          <a:p>
            <a:r>
              <a:rPr lang="en" altLang="zh-TW" sz="1600" dirty="0"/>
              <a:t>Git </a:t>
            </a:r>
            <a:r>
              <a:rPr lang="zh-TW" altLang="en-US" sz="1600" dirty="0"/>
              <a:t>初始化與整合測試</a:t>
            </a:r>
          </a:p>
          <a:p>
            <a:r>
              <a:rPr lang="en" altLang="zh-TW" sz="1600" dirty="0"/>
              <a:t>UML / </a:t>
            </a:r>
            <a:r>
              <a:rPr lang="zh-TW" altLang="en-US" sz="1600" dirty="0"/>
              <a:t>流程</a:t>
            </a:r>
            <a:r>
              <a:rPr lang="zh-CN" altLang="en-US" sz="1600" dirty="0"/>
              <a:t> </a:t>
            </a:r>
            <a:r>
              <a:rPr lang="en-US" altLang="zh-TW" sz="1600" dirty="0"/>
              <a:t>/</a:t>
            </a:r>
            <a:r>
              <a:rPr lang="zh-CN" altLang="en-US" sz="1600" dirty="0"/>
              <a:t> </a:t>
            </a:r>
            <a:r>
              <a:rPr lang="zh-TW" altLang="en-US" sz="1600" dirty="0"/>
              <a:t>架構文件</a:t>
            </a:r>
          </a:p>
          <a:p>
            <a:r>
              <a:rPr lang="zh-TW" altLang="en-US" sz="1600" dirty="0"/>
              <a:t>系統登入驗證（學號</a:t>
            </a:r>
            <a:r>
              <a:rPr lang="en-US" altLang="zh-TW" sz="1600" dirty="0"/>
              <a:t>/</a:t>
            </a:r>
            <a:r>
              <a:rPr lang="zh-TW" altLang="en-US" sz="1600" dirty="0"/>
              <a:t>員工編號 帳密）</a:t>
            </a:r>
          </a:p>
          <a:p>
            <a:r>
              <a:rPr lang="en" altLang="zh-TW" sz="1600" dirty="0"/>
              <a:t>File I/O</a:t>
            </a:r>
            <a:r>
              <a:rPr lang="zh-CN" altLang="en-US" sz="1600" dirty="0"/>
              <a:t> </a:t>
            </a:r>
            <a:r>
              <a:rPr lang="zh-TW" altLang="en-US" sz="1600" dirty="0"/>
              <a:t>資料儲存（用戶、活動資訊）</a:t>
            </a:r>
          </a:p>
          <a:p>
            <a:r>
              <a:rPr lang="zh-TW" altLang="en-US" sz="1600" dirty="0"/>
              <a:t>報名名單 </a:t>
            </a:r>
            <a:r>
              <a:rPr lang="en" altLang="zh-TW" sz="1600" dirty="0"/>
              <a:t>CSV </a:t>
            </a:r>
            <a:r>
              <a:rPr lang="zh-TW" altLang="en-US" sz="1600" dirty="0"/>
              <a:t>匯出</a:t>
            </a:r>
          </a:p>
        </p:txBody>
      </p:sp>
      <p:sp>
        <p:nvSpPr>
          <p:cNvPr id="3" name="內容版面配置區 3">
            <a:extLst>
              <a:ext uri="{FF2B5EF4-FFF2-40B4-BE49-F238E27FC236}">
                <a16:creationId xmlns:a16="http://schemas.microsoft.com/office/drawing/2014/main" id="{7C7558FB-B52D-A5A7-19AC-FC384E4C8C58}"/>
              </a:ext>
            </a:extLst>
          </p:cNvPr>
          <p:cNvSpPr txBox="1">
            <a:spLocks/>
          </p:cNvSpPr>
          <p:nvPr/>
        </p:nvSpPr>
        <p:spPr>
          <a:xfrm>
            <a:off x="4182207" y="1799004"/>
            <a:ext cx="382758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1600" dirty="0"/>
              <a:t>學生端活動瀏覽：</a:t>
            </a:r>
          </a:p>
          <a:p>
            <a:r>
              <a:rPr lang="zh-TW" altLang="en-US" sz="1600" dirty="0"/>
              <a:t>活動活動列表（根據活動時間排序）</a:t>
            </a:r>
          </a:p>
          <a:p>
            <a:r>
              <a:rPr lang="zh-TW" altLang="en-US" sz="1600" dirty="0"/>
              <a:t>活動詳細資料</a:t>
            </a:r>
          </a:p>
          <a:p>
            <a:r>
              <a:rPr lang="zh-TW" altLang="en-US" sz="1600" dirty="0"/>
              <a:t>關鍵搜尋、日期</a:t>
            </a:r>
            <a:r>
              <a:rPr lang="en-US" altLang="zh-TW" sz="1600" dirty="0"/>
              <a:t>/</a:t>
            </a:r>
            <a:r>
              <a:rPr lang="zh-TW" altLang="en-US" sz="1600" dirty="0"/>
              <a:t>活動類型篩選</a:t>
            </a:r>
          </a:p>
          <a:p>
            <a:r>
              <a:rPr lang="zh-TW" altLang="en-US" sz="1600" dirty="0"/>
              <a:t>查看個人報名紀錄</a:t>
            </a:r>
          </a:p>
        </p:txBody>
      </p:sp>
      <p:sp>
        <p:nvSpPr>
          <p:cNvPr id="5" name="內容版面配置區 3">
            <a:extLst>
              <a:ext uri="{FF2B5EF4-FFF2-40B4-BE49-F238E27FC236}">
                <a16:creationId xmlns:a16="http://schemas.microsoft.com/office/drawing/2014/main" id="{56CB46E0-D13C-301A-7EEE-AA683889CFE3}"/>
              </a:ext>
            </a:extLst>
          </p:cNvPr>
          <p:cNvSpPr txBox="1">
            <a:spLocks/>
          </p:cNvSpPr>
          <p:nvPr/>
        </p:nvSpPr>
        <p:spPr>
          <a:xfrm>
            <a:off x="8009792" y="1799004"/>
            <a:ext cx="382758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1600" dirty="0"/>
              <a:t>活動管理</a:t>
            </a:r>
            <a:r>
              <a:rPr lang="en-US" altLang="zh-TW" sz="1600" dirty="0"/>
              <a:t>+</a:t>
            </a:r>
            <a:r>
              <a:rPr lang="zh-TW" altLang="en-US" sz="1600" dirty="0"/>
              <a:t>報名功能：</a:t>
            </a:r>
          </a:p>
          <a:p>
            <a:r>
              <a:rPr lang="zh-TW" altLang="en-US" sz="1600" dirty="0"/>
              <a:t>建立活動（標題、地點、時間、主辦單位、名額）</a:t>
            </a:r>
          </a:p>
          <a:p>
            <a:r>
              <a:rPr lang="zh-TW" altLang="en-US" sz="1600" dirty="0"/>
              <a:t>編輯活動、刪除活動（活動異動提示）</a:t>
            </a:r>
          </a:p>
          <a:p>
            <a:r>
              <a:rPr lang="zh-TW" altLang="en-US" sz="1600" dirty="0"/>
              <a:t>學生報名活動（報名成功提示、活動額滿拒絕報名）</a:t>
            </a:r>
          </a:p>
          <a:p>
            <a:r>
              <a:rPr lang="zh-TW" altLang="en-US" sz="1600" dirty="0"/>
              <a:t>可以取消已經報名活動</a:t>
            </a:r>
          </a:p>
        </p:txBody>
      </p:sp>
    </p:spTree>
    <p:extLst>
      <p:ext uri="{BB962C8B-B14F-4D97-AF65-F5344CB8AC3E}">
        <p14:creationId xmlns:p14="http://schemas.microsoft.com/office/powerpoint/2010/main" val="838739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FBA47-2806-D996-DE51-6BD465C9B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F9E662-970C-E660-7B64-F54F6468B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負責之模組功能及開發心得</a:t>
            </a:r>
            <a:r>
              <a:rPr lang="zh-CN" altLang="en-US" dirty="0"/>
              <a:t> </a:t>
            </a:r>
            <a:r>
              <a:rPr lang="en-US" altLang="zh-CN" dirty="0"/>
              <a:t>-</a:t>
            </a:r>
            <a:r>
              <a:rPr lang="zh-CN" altLang="en-US" dirty="0"/>
              <a:t>秦</a:t>
            </a:r>
            <a:endParaRPr lang="zh-TW" altLang="zh-TW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4D52F5B-48D5-512E-9FEB-AAFB84F23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1446430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93288-CF1C-758A-0CBB-332443B22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0ED478-B910-D294-D992-1C6322A4A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負責之模組功能及開發心得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蘇</a:t>
            </a:r>
            <a:endParaRPr lang="zh-TW" altLang="zh-TW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5A99A34-6AB2-1618-F5BA-8670BF9CF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系統架構、登入驗證、資料保存與匯出功能</a:t>
            </a:r>
          </a:p>
        </p:txBody>
      </p:sp>
    </p:spTree>
    <p:extLst>
      <p:ext uri="{BB962C8B-B14F-4D97-AF65-F5344CB8AC3E}">
        <p14:creationId xmlns:p14="http://schemas.microsoft.com/office/powerpoint/2010/main" val="3154344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D390D-10EB-89C1-4E76-D04009FA8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02D3AD-9C07-35C1-231E-2E554014F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負責之模組功能及開發心得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溫</a:t>
            </a:r>
            <a:endParaRPr lang="zh-TW" altLang="zh-TW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369E95D-9AF1-7C1E-38FF-1C82562E3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3881940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525</Words>
  <Application>Microsoft Macintosh PowerPoint</Application>
  <PresentationFormat>寬螢幕</PresentationFormat>
  <Paragraphs>44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Kaiti TC</vt:lpstr>
      <vt:lpstr>Aptos</vt:lpstr>
      <vt:lpstr>Aptos Display</vt:lpstr>
      <vt:lpstr>Arial</vt:lpstr>
      <vt:lpstr>Office 佈景主題</vt:lpstr>
      <vt:lpstr>Campus Event Management System 校園活動管理系統</vt:lpstr>
      <vt:lpstr>系統需求</vt:lpstr>
      <vt:lpstr>需求參考</vt:lpstr>
      <vt:lpstr>系統架構</vt:lpstr>
      <vt:lpstr>使用流程圖</vt:lpstr>
      <vt:lpstr>UML Class Diagram</vt:lpstr>
      <vt:lpstr>UML Class Diagram</vt:lpstr>
      <vt:lpstr>類別設計</vt:lpstr>
      <vt:lpstr>模組分工</vt:lpstr>
      <vt:lpstr>負責之模組功能及開發心得 -秦</vt:lpstr>
      <vt:lpstr>負責之模組功能及開發心得 –蘇</vt:lpstr>
      <vt:lpstr>負責之模組功能及開發心得 –溫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蘇怡甄</dc:creator>
  <cp:lastModifiedBy>蘇怡甄</cp:lastModifiedBy>
  <cp:revision>19</cp:revision>
  <dcterms:created xsi:type="dcterms:W3CDTF">2026-06-04T03:00:51Z</dcterms:created>
  <dcterms:modified xsi:type="dcterms:W3CDTF">2026-06-05T12:48:18Z</dcterms:modified>
</cp:coreProperties>
</file>